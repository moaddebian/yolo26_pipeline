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4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9679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1258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6043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7818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8949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9492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86295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4453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8425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4943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487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9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36A83-A57B-45F6-A22B-A27C635341BA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EDEC400-71B0-4558-9D51-980F8763346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2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517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Méthodes de Fusion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Boîtes Englobantes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Suppression par Maximum Local au Pipeline End-to-End NMS-Free</a:t>
            </a:r>
            <a:endParaRPr lang="en-US" sz="150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5486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Moad Dabyane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838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3483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Yassir </a:t>
            </a:r>
            <a:r>
              <a:rPr lang="en-US" sz="11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Zardoua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044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9044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#02-2026 · Caplogy Innovation, Fès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251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Date 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43251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Mars 2026 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457200"/>
            <a:ext cx="2560320" cy="5943600"/>
          </a:xfrm>
          <a:prstGeom prst="rect">
            <a:avLst/>
          </a:prstGeom>
          <a:solidFill>
            <a:srgbClr val="1A2B4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72600" y="685800"/>
            <a:ext cx="2286000" cy="1005840"/>
          </a:xfrm>
          <a:prstGeom prst="rect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72600" y="7132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méthodes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2600" y="1234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analysées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72600" y="2057400"/>
            <a:ext cx="2286000" cy="100584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72600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→ 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7260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ans d'évolution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72600" y="3429000"/>
            <a:ext cx="2286000" cy="1005840"/>
          </a:xfrm>
          <a:prstGeom prst="rect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72600" y="34564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NMS-Free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72600" y="3977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natif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72600" y="4800600"/>
            <a:ext cx="2286000" cy="100584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72600" y="4828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Fisheye 180°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72600" y="5349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drone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 recherche : Détection de piétons à partir de projections multiples optimales d'images fisheye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7 Méthodes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2006 → 2026  ·  NMS Standard → Architecture NMS-Free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112471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40"/>
            <a:ext cx="1463040" cy="1691640"/>
          </a:xfrm>
          <a:prstGeom prst="rect">
            <a:avLst/>
          </a:prstGeom>
          <a:solidFill>
            <a:srgbClr val="334155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95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07899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700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334155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441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74520" y="777240"/>
            <a:ext cx="1463040" cy="1691640"/>
          </a:xfrm>
          <a:prstGeom prst="rect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74520" y="795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107899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Soft-NMS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1700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77440" y="242316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77440" y="2441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0" y="777240"/>
            <a:ext cx="1463040" cy="1691640"/>
          </a:xfrm>
          <a:prstGeom prst="rect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795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107899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DIoU-NMS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1700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77640" y="242316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77640" y="2441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74920" y="777240"/>
            <a:ext cx="1463040" cy="169164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74920" y="795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107899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1700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77840" y="242316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77840" y="2441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777240"/>
            <a:ext cx="1463040" cy="169164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75120" y="795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107899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CIoU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1700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78040" y="242316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78040" y="2441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75320" y="777240"/>
            <a:ext cx="1463040" cy="169164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275320" y="795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75320" y="107899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WBF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75320" y="1700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778240" y="2423160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778240" y="2441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7532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875520" y="777240"/>
            <a:ext cx="1463040" cy="169164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875520" y="795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875520" y="107899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NMS-Free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875520" y="17007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378440" y="2423160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378440" y="2441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87552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4320" y="33832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irréversible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874520" y="33832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Dégradation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Gaussienne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score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474720" y="33832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boîtes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74920" y="33832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75120" y="33832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275320" y="33832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pondérée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boîtes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875520" y="33832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supprimé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4297680"/>
            <a:ext cx="11430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3" name="Text 61"/>
          <p:cNvSpPr/>
          <p:nvPr/>
        </p:nvSpPr>
        <p:spPr>
          <a:xfrm>
            <a:off x="274320" y="4370832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suppression binaire  →  pondération continue  →  fusion  →  élimination architecturale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74320" y="4800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: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463040" y="4828032"/>
            <a:ext cx="201168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6" name="Text 64"/>
          <p:cNvSpPr/>
          <p:nvPr/>
        </p:nvSpPr>
        <p:spPr>
          <a:xfrm>
            <a:off x="1700784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566160" y="4828032"/>
            <a:ext cx="20116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8" name="Text 66"/>
          <p:cNvSpPr/>
          <p:nvPr/>
        </p:nvSpPr>
        <p:spPr>
          <a:xfrm>
            <a:off x="3803904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 (0 réentraîn.)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669280" y="4828032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0" name="Text 68"/>
          <p:cNvSpPr/>
          <p:nvPr/>
        </p:nvSpPr>
        <p:spPr>
          <a:xfrm>
            <a:off x="5907024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 requis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772400" y="4828032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8010144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multi-sources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875520" y="4828032"/>
            <a:ext cx="20116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4" name="Text 72"/>
          <p:cNvSpPr/>
          <p:nvPr/>
        </p:nvSpPr>
        <p:spPr>
          <a:xfrm>
            <a:off x="10113264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E2E NMS-Free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6519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#02-2026  ·  Caplogy Innovation  ·  Méthodes NMS &amp; NMS-Free  ·  Mars 2026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064240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Critères par Méthode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composants chaque méthode utilise-t-elle ?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6596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40280" y="822960"/>
            <a:ext cx="91440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8229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96012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82296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0" y="822960"/>
            <a:ext cx="100584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8229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Gaussienne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0" y="822960"/>
            <a:ext cx="86868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82296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89320" y="822960"/>
            <a:ext cx="96012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82296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49440" y="822960"/>
            <a:ext cx="91440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8229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863840" y="822960"/>
            <a:ext cx="82296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82296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0" y="822960"/>
            <a:ext cx="118872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8229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1389888"/>
            <a:ext cx="1965960" cy="512064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38988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Standard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40280" y="1389888"/>
            <a:ext cx="914400" cy="51206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138988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1389888"/>
            <a:ext cx="960120" cy="51206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1389888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1389888"/>
            <a:ext cx="1005840" cy="51206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38988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120640" y="1389888"/>
            <a:ext cx="868680" cy="51206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1389888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89320" y="1389888"/>
            <a:ext cx="960120" cy="51206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1389888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49440" y="1389888"/>
            <a:ext cx="914400" cy="51206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138988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863840" y="1389888"/>
            <a:ext cx="822960" cy="51206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1389888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686800" y="1389888"/>
            <a:ext cx="1188720" cy="51206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138988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1901952"/>
            <a:ext cx="1965960" cy="512064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1901952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Soft-NMS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40280" y="1901952"/>
            <a:ext cx="91440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0280" y="190195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54680" y="1901952"/>
            <a:ext cx="9601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54680" y="1901952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0" y="1901952"/>
            <a:ext cx="100584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0" y="190195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20640" y="1901952"/>
            <a:ext cx="8686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1901952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989320" y="1901952"/>
            <a:ext cx="9601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1901952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949440" y="1901952"/>
            <a:ext cx="91440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190195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863840" y="1901952"/>
            <a:ext cx="82296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0" y="190195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686800" y="1901952"/>
            <a:ext cx="11887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6800" y="190195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2414016"/>
            <a:ext cx="1965960" cy="512064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2414016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DIoU-NMS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40280" y="2414016"/>
            <a:ext cx="91440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40280" y="2414016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(DIoU)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154680" y="2414016"/>
            <a:ext cx="9601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54680" y="2414016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114800" y="2414016"/>
            <a:ext cx="100584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0" y="241401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120640" y="2414016"/>
            <a:ext cx="8686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2414016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989320" y="2414016"/>
            <a:ext cx="9601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89320" y="2414016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949440" y="2414016"/>
            <a:ext cx="91440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49440" y="2414016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863840" y="2414016"/>
            <a:ext cx="82296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0" y="2414016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75" name="Shape 73"/>
          <p:cNvSpPr/>
          <p:nvPr/>
        </p:nvSpPr>
        <p:spPr>
          <a:xfrm>
            <a:off x="8686800" y="2414016"/>
            <a:ext cx="11887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86800" y="2414016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2926080"/>
            <a:ext cx="196596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292608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NMS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240280" y="2926080"/>
            <a:ext cx="91440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40280" y="2926080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154680" y="2926080"/>
            <a:ext cx="96012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54680" y="2926080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114800" y="2926080"/>
            <a:ext cx="100584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4" name="Text 82"/>
          <p:cNvSpPr/>
          <p:nvPr/>
        </p:nvSpPr>
        <p:spPr>
          <a:xfrm>
            <a:off x="4114800" y="292608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85" name="Shape 83"/>
          <p:cNvSpPr/>
          <p:nvPr/>
        </p:nvSpPr>
        <p:spPr>
          <a:xfrm>
            <a:off x="5120640" y="2926080"/>
            <a:ext cx="86868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20640" y="2926080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87" name="Shape 85"/>
          <p:cNvSpPr/>
          <p:nvPr/>
        </p:nvSpPr>
        <p:spPr>
          <a:xfrm>
            <a:off x="5989320" y="2926080"/>
            <a:ext cx="96012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89320" y="2926080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949440" y="2926080"/>
            <a:ext cx="91440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49440" y="2926080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91" name="Shape 89"/>
          <p:cNvSpPr/>
          <p:nvPr/>
        </p:nvSpPr>
        <p:spPr>
          <a:xfrm>
            <a:off x="7863840" y="2926080"/>
            <a:ext cx="82296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63840" y="292608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686800" y="2926080"/>
            <a:ext cx="118872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686800" y="2926080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74320" y="3438144"/>
            <a:ext cx="196596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343814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 / CIoU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240280" y="3438144"/>
            <a:ext cx="91440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240280" y="3438144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(CIoU)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154680" y="3438144"/>
            <a:ext cx="96012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154680" y="3438144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4114800" y="3438144"/>
            <a:ext cx="100584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114800" y="3438144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5120640" y="3438144"/>
            <a:ext cx="86868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120640" y="3438144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5989320" y="3438144"/>
            <a:ext cx="96012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89320" y="3438144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6949440" y="3438144"/>
            <a:ext cx="91440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949440" y="3438144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7863840" y="3438144"/>
            <a:ext cx="82296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863840" y="3438144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8686800" y="3438144"/>
            <a:ext cx="1188720" cy="51206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686800" y="3438144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Entraîn.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274320" y="3950208"/>
            <a:ext cx="1965960" cy="512064"/>
          </a:xfrm>
          <a:prstGeom prst="rect">
            <a:avLst/>
          </a:prstGeom>
          <a:solidFill>
            <a:srgbClr val="F59E0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74320" y="395020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WBF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2240280" y="3950208"/>
            <a:ext cx="914400" cy="512064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240280" y="395020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154680" y="3950208"/>
            <a:ext cx="960120" cy="512064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154680" y="3950208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114800" y="3950208"/>
            <a:ext cx="1005840" cy="512064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114800" y="395020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5120640" y="3950208"/>
            <a:ext cx="868680" cy="512064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120640" y="3950208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5989320" y="3950208"/>
            <a:ext cx="960120" cy="512064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989320" y="3950208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6949440" y="3950208"/>
            <a:ext cx="914400" cy="512064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949440" y="395020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7863840" y="3950208"/>
            <a:ext cx="822960" cy="512064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8" name="Text 126"/>
          <p:cNvSpPr/>
          <p:nvPr/>
        </p:nvSpPr>
        <p:spPr>
          <a:xfrm>
            <a:off x="7863840" y="3950208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8686800" y="3950208"/>
            <a:ext cx="1188720" cy="512064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686800" y="395020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3×NMS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274320" y="4462272"/>
            <a:ext cx="1965960" cy="512064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4320" y="4462272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NMS-Free YOLO26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2240280" y="4462272"/>
            <a:ext cx="91440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240280" y="446227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(O2O)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3154680" y="4462272"/>
            <a:ext cx="96012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154680" y="4462272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4114800" y="4462272"/>
            <a:ext cx="100584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114800" y="446227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39" name="Shape 137"/>
          <p:cNvSpPr/>
          <p:nvPr/>
        </p:nvSpPr>
        <p:spPr>
          <a:xfrm>
            <a:off x="5120640" y="4462272"/>
            <a:ext cx="86868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120640" y="4462272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5989320" y="4462272"/>
            <a:ext cx="96012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989320" y="4462272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43" name="Shape 141"/>
          <p:cNvSpPr/>
          <p:nvPr/>
        </p:nvSpPr>
        <p:spPr>
          <a:xfrm>
            <a:off x="6949440" y="4462272"/>
            <a:ext cx="91440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949440" y="446227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7863840" y="4462272"/>
            <a:ext cx="82296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863840" y="446227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8686800" y="4462272"/>
            <a:ext cx="118872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686800" y="446227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E2E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274320" y="5120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 :</a:t>
            </a:r>
            <a:endParaRPr lang="en-US" sz="900" dirty="0"/>
          </a:p>
        </p:txBody>
      </p:sp>
      <p:sp>
        <p:nvSpPr>
          <p:cNvPr id="150" name="Text 148"/>
          <p:cNvSpPr/>
          <p:nvPr/>
        </p:nvSpPr>
        <p:spPr>
          <a:xfrm>
            <a:off x="1234440" y="5120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critère utilisé     </a:t>
            </a:r>
            <a:r>
              <a:rPr lang="en-US" sz="9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non utilisé     IoU = Intersection over Union     Gaussienne = exp(−IoU²/σ)     Dist. centres = d(cA,cB)²/c²     Densité = seuil adaptatif appris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274320" y="5577840"/>
            <a:ext cx="1152144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2" name="Text 150"/>
          <p:cNvSpPr/>
          <p:nvPr/>
        </p:nvSpPr>
        <p:spPr>
          <a:xfrm>
            <a:off x="457200" y="565099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Observation clé : seules WBF et NMS-Free YOLO26 effectuent une fusion de coordonnées — essentielle pour réduire le jitter dans le pipeline fisheye multi-projections.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54" name="Text 152"/>
          <p:cNvSpPr/>
          <p:nvPr/>
        </p:nvSpPr>
        <p:spPr>
          <a:xfrm>
            <a:off x="274320" y="6519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#02-2026  ·  Caplogy Innovation  ·  Méthodes NMS &amp; NMS-Free  ·  Mars 2026</a:t>
            </a: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11064240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 — Performances &amp; Guide de Sélection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selon les critères du stage  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20240" cy="5029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94560" y="822960"/>
            <a:ext cx="868680" cy="5029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8229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 denses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63240" y="822960"/>
            <a:ext cx="868680" cy="5029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8229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Multi-vues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31920" y="822960"/>
            <a:ext cx="960120" cy="5029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82296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coord.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92040" y="822960"/>
            <a:ext cx="731520" cy="5029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822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23560" y="822960"/>
            <a:ext cx="960120" cy="5029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82296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325880"/>
            <a:ext cx="1920240" cy="475488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3258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Standard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1325880"/>
            <a:ext cx="8686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132588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3240" y="1325880"/>
            <a:ext cx="8686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132588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31920" y="1325880"/>
            <a:ext cx="9601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132588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1325880"/>
            <a:ext cx="731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32588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1325880"/>
            <a:ext cx="9601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32588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1801368"/>
            <a:ext cx="1920240" cy="475488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18013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Soft-NMS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1801368"/>
            <a:ext cx="86868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180136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63240" y="1801368"/>
            <a:ext cx="86868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3240" y="180136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31920" y="1801368"/>
            <a:ext cx="96012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180136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1801368"/>
            <a:ext cx="73152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80136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23560" y="1801368"/>
            <a:ext cx="96012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23560" y="180136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276856"/>
            <a:ext cx="1920240" cy="475488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2768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DIoU-NMS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94560" y="2276856"/>
            <a:ext cx="86868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2276856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63240" y="2276856"/>
            <a:ext cx="86868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63240" y="2276856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31920" y="2276856"/>
            <a:ext cx="96012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2276856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92040" y="2276856"/>
            <a:ext cx="73152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27685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23560" y="2276856"/>
            <a:ext cx="96012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2276856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2752344"/>
            <a:ext cx="192024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27523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NMS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194560" y="2752344"/>
            <a:ext cx="86868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94560" y="2752344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063240" y="2752344"/>
            <a:ext cx="86868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63240" y="2752344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931920" y="2752344"/>
            <a:ext cx="960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0" y="2752344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92040" y="2752344"/>
            <a:ext cx="7315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92040" y="275234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23560" y="2752344"/>
            <a:ext cx="960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23560" y="2752344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227832"/>
            <a:ext cx="192024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2278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 / CIoU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194560" y="3227832"/>
            <a:ext cx="86868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0" y="32278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063240" y="3227832"/>
            <a:ext cx="86868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63240" y="32278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931920" y="3227832"/>
            <a:ext cx="960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31920" y="3227832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892040" y="3227832"/>
            <a:ext cx="7315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92040" y="322783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623560" y="3227832"/>
            <a:ext cx="960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23560" y="3227832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3703320"/>
            <a:ext cx="1920240" cy="475488"/>
          </a:xfrm>
          <a:prstGeom prst="rect">
            <a:avLst/>
          </a:prstGeom>
          <a:solidFill>
            <a:srgbClr val="F59E0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37033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WBF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703320"/>
            <a:ext cx="86868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703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063240" y="3703320"/>
            <a:ext cx="86868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63240" y="3703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931920" y="3703320"/>
            <a:ext cx="96012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31920" y="370332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892040" y="3703320"/>
            <a:ext cx="73152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92040" y="370332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623560" y="3703320"/>
            <a:ext cx="96012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23560" y="370332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3×NMS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74320" y="4178808"/>
            <a:ext cx="1920240" cy="475488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4178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NMS-Free YOLO26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194560" y="4178808"/>
            <a:ext cx="868680" cy="47548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94560" y="417880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063240" y="4178808"/>
            <a:ext cx="868680" cy="47548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063240" y="417880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931920" y="4178808"/>
            <a:ext cx="960120" cy="47548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931920" y="417880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892040" y="4178808"/>
            <a:ext cx="731520" cy="47548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892040" y="417880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5623560" y="4178808"/>
            <a:ext cx="960120" cy="47548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623560" y="417880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E2E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6766560" y="804672"/>
            <a:ext cx="5303520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2" name="Text 100"/>
          <p:cNvSpPr/>
          <p:nvPr/>
        </p:nvSpPr>
        <p:spPr>
          <a:xfrm>
            <a:off x="6766560" y="80467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 sélection pour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6766560" y="1389888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6766560" y="1389888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5" name="Text 103"/>
          <p:cNvSpPr/>
          <p:nvPr/>
        </p:nvSpPr>
        <p:spPr>
          <a:xfrm>
            <a:off x="6903720" y="14264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Amélioration immédiate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690372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Soft-NMS  +1.1% mAP · plug-and-play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6766560" y="2322576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6766560" y="2322576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9" name="Text 107"/>
          <p:cNvSpPr/>
          <p:nvPr/>
        </p:nvSpPr>
        <p:spPr>
          <a:xfrm>
            <a:off x="6903720" y="2359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Foule dense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690372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NMS  −3.4 pts MR⁻² CrowdHuman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6766560" y="3255264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6766560" y="3255264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3" name="Text 111"/>
          <p:cNvSpPr/>
          <p:nvPr/>
        </p:nvSpPr>
        <p:spPr>
          <a:xfrm>
            <a:off x="690372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Fusion inter-projections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6903720" y="36941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WBF  wᵢ = cᵢ · δᵢ  ·  0 suppression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6766560" y="4187952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6766560" y="4187952"/>
            <a:ext cx="73152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903720" y="4224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Latence min. embarqué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6903720" y="46268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NMS-Free  −43% CPU · export E2E natif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6766560" y="5120640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6766560" y="512064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1" name="Text 119"/>
          <p:cNvSpPr/>
          <p:nvPr/>
        </p:nvSpPr>
        <p:spPr>
          <a:xfrm>
            <a:off x="6903720" y="51572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Précision localisation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6903720" y="55595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CIoU Loss  +1.5% mAP cumulatif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4" name="Text 122"/>
          <p:cNvSpPr/>
          <p:nvPr/>
        </p:nvSpPr>
        <p:spPr>
          <a:xfrm>
            <a:off x="274320" y="6519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#02-2026  ·  Caplogy Innovation  ·  Méthodes NMS &amp; NMS-Free  ·  Mars 2026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11064240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9601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Recommandé : YOLO26 NMS-Free + WBF Pondérée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1000" i="1" dirty="0" err="1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proposé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" y="905256"/>
            <a:ext cx="1645920" cy="1097280"/>
          </a:xfrm>
          <a:prstGeom prst="rect">
            <a:avLst/>
          </a:prstGeom>
          <a:solidFill>
            <a:srgbClr val="334155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010" y="9875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Fisheye 180°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" y="16550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1426464"/>
            <a:ext cx="2560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13167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905256"/>
            <a:ext cx="1828800" cy="1097280"/>
          </a:xfrm>
          <a:prstGeom prst="rect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99669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Projections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Gnomoniques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16550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· patches perspectifs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86200" y="1426464"/>
            <a:ext cx="2560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069080" y="13167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905256"/>
            <a:ext cx="1828800" cy="109728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99669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NMS-Free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0520" y="16550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patch · O2O head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26464"/>
            <a:ext cx="2560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3167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905256"/>
            <a:ext cx="1828800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99669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Fisheye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6550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· coordonnées fisheye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92440" y="1426464"/>
            <a:ext cx="2560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13167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66760" y="905256"/>
            <a:ext cx="1828800" cy="109728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66760" y="99669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WBF Pondérée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= cᵢ·δᵢ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16550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inter-projections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195560" y="1426464"/>
            <a:ext cx="2560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378440" y="13167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469880" y="905256"/>
            <a:ext cx="1588770" cy="1097280"/>
          </a:xfrm>
          <a:prstGeom prst="rect">
            <a:avLst/>
          </a:prstGeom>
          <a:solidFill>
            <a:srgbClr val="22C55E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378440" y="951629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55580" y="165571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boîte / piéton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60520" y="2221992"/>
            <a:ext cx="1828800" cy="1188720"/>
          </a:xfrm>
          <a:prstGeom prst="rect">
            <a:avLst/>
          </a:prstGeom>
          <a:solidFill>
            <a:srgbClr val="1A2B4A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33672" y="226771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boîte / piéton / patch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Sans NMS intra-patch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STAL piétons éloignés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Compatible NPU/DSP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48472" y="2235708"/>
            <a:ext cx="1828800" cy="1188720"/>
          </a:xfrm>
          <a:prstGeom prst="rect">
            <a:avLst/>
          </a:prstGeom>
          <a:solidFill>
            <a:srgbClr val="1A2B4A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438932" y="2261834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Fusion coordonnées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Réduit le jitter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wᵢ = cᵢ · δᵢ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Centre → poids fort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703320"/>
            <a:ext cx="11521440" cy="34747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370332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Points d'attention pour l'intégration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160520"/>
            <a:ext cx="2743200" cy="1143000"/>
          </a:xfrm>
          <a:prstGeom prst="rect">
            <a:avLst/>
          </a:prstGeom>
          <a:solidFill>
            <a:srgbClr val="1A2B4A"/>
          </a:solidFill>
          <a:ln w="1016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4224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Fine-tuning YOLO26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617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fisheye annotées — boîtes atypiques (formes trapézoïdales)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46120" y="4160520"/>
            <a:ext cx="2743200" cy="1143000"/>
          </a:xfrm>
          <a:prstGeom prst="rect">
            <a:avLst/>
          </a:prstGeom>
          <a:solidFill>
            <a:srgbClr val="1A2B4A"/>
          </a:solidFill>
          <a:ln w="1016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337560" y="4224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Calibration τs (STAL)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37560" y="4617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au ratio surface/image selon altitude de vol du drone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4160520"/>
            <a:ext cx="2743200" cy="1143000"/>
          </a:xfrm>
          <a:prstGeom prst="rect">
            <a:avLst/>
          </a:prstGeom>
          <a:solidFill>
            <a:srgbClr val="1A2B4A"/>
          </a:solidFill>
          <a:ln w="1016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309360" y="4224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Calibration θ (WBF)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09360" y="4617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clustering tenant compte des distorsions de reprojection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189720" y="4160520"/>
            <a:ext cx="2743200" cy="1143000"/>
          </a:xfrm>
          <a:prstGeom prst="rect">
            <a:avLst/>
          </a:prstGeom>
          <a:solidFill>
            <a:srgbClr val="1A2B4A"/>
          </a:solidFill>
          <a:ln w="1016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281160" y="4224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Filtre Kalman / EMA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281160" y="4617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temporelle inter-frames — réduction jitter résiduel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5440680"/>
            <a:ext cx="11521440" cy="777240"/>
          </a:xfrm>
          <a:prstGeom prst="rect">
            <a:avLst/>
          </a:prstGeom>
          <a:solidFill>
            <a:srgbClr val="1C103A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57200" y="5486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 WBF Fisheye 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108960" y="5468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= cᵢ · δᵢ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7200" y="58521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 cᵢ = score YOLO26   ·   δᵢ = distance normalisée au bord de projection   ·   Centre → δᵢ ≈ 1 (poids fort)   ·   Bord → δᵢ ≈ 0 (poids réduit)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6519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#02-2026  ·  Caplogy Innovation  ·  Méthodes NMS &amp; NMS-Free  ·  Mars 2026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064240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C3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Références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NMS Standard (2006) au Pipeline End-to-End NMS-Free (2026)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852160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naturelle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Standard  →  Soft-NMS  →  DIoU  →  Adaptive NMS  →  BBR/CIoU  →  WBF  →  YOLO26 NMS-Free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1371600" cy="96012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−43%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YOLO26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YOLO11n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83080" y="1691640"/>
            <a:ext cx="1371600" cy="96012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83080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WBF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test-dev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1371600" cy="96012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−3.4 pts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MR⁻² Adaptive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Crowd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1691640"/>
            <a:ext cx="1371600" cy="960120"/>
          </a:xfrm>
          <a:prstGeom prst="rect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BBR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cumulatif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585216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78892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fisheye optimal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21868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NMS-Free</a:t>
            </a: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(intra-projection)  +  </a:t>
            </a: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WBF wᵢ=cᵢ·δᵢ</a:t>
            </a: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(inter-projections)  +  </a:t>
            </a: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 piétons éloignés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777240"/>
            <a:ext cx="5394960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7772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1207008"/>
            <a:ext cx="53949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22529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Neubeck &amp; Van Gool, ICPR 2006 — NMS Standard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92240" y="1636776"/>
            <a:ext cx="5394960" cy="402336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65506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Bodla et al., ICCV 2017 — Soft-NMS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0" y="2066544"/>
            <a:ext cx="53949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20848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Zheng et al., AAAI 2020 — DIoU-NMS &amp; CIoU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92240" y="2496312"/>
            <a:ext cx="5394960" cy="402336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5146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Liu et al., CVPR 2019 — Adaptive NMS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92240" y="2926080"/>
            <a:ext cx="53949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29443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Ren et al., NeurIPS 2015 — Faster R-CNN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92240" y="3355848"/>
            <a:ext cx="5394960" cy="402336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37413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Solovyev et al., IVC 2021 — WBF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92240" y="3785616"/>
            <a:ext cx="53949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38039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Wang et al., NeurIPS 2024 — YOLOv10 NMS-Free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92240" y="4215384"/>
            <a:ext cx="5394960" cy="402336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42336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Jocher &amp; Qiu, Ultralytics 2026 — YOLO26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92240" y="4645152"/>
            <a:ext cx="53949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6634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Sapkota et al., arXiv:2509.25164, 2025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92240" y="5074920"/>
            <a:ext cx="5394960" cy="402336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50932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Chakrabarty, arXiv:2601.12882, 2026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92240" y="5504688"/>
            <a:ext cx="53949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552297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Hidayatullah et al., arXiv:2602.14582, 2026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3749040"/>
            <a:ext cx="5852160" cy="2514600"/>
          </a:xfrm>
          <a:prstGeom prst="rect">
            <a:avLst/>
          </a:prstGeom>
          <a:solidFill>
            <a:srgbClr val="0F1C30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65760" y="382219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pour le stage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422452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Soft-NMS : amélioration plug-and-play immédiate sans réentraînement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65760" y="4608576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NMS : meilleur résultat foule dense si fine-tuning possible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65760" y="4992624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WBF : seule méthode fusionnant toutes les coordonnées — idéal inter-projections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" y="537667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NMS-Free : supprime NMS architecturalement + −43% CPU + export E2E natif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65760" y="576072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optimal : YOLO26 (intra-patch) + WBF pondérée (inter-projections)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F1C30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6519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#02-2026  ·  Caplogy Innovation  ·  Méthodes NMS &amp; NMS-Free  ·  Mars 2026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064240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</TotalTime>
  <Words>1114</Words>
  <Application>Microsoft Office PowerPoint</Application>
  <PresentationFormat>Widescreen</PresentationFormat>
  <Paragraphs>335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Synthèse — Méthodes NMS &amp; NMS-Free</dc:title>
  <dc:subject>PptxGenJS Presentation</dc:subject>
  <dc:creator>Moad Dabyane</dc:creator>
  <cp:lastModifiedBy>Mouad Debien</cp:lastModifiedBy>
  <cp:revision>11</cp:revision>
  <dcterms:created xsi:type="dcterms:W3CDTF">2026-03-24T13:15:06Z</dcterms:created>
  <dcterms:modified xsi:type="dcterms:W3CDTF">2026-03-24T13:43:03Z</dcterms:modified>
</cp:coreProperties>
</file>